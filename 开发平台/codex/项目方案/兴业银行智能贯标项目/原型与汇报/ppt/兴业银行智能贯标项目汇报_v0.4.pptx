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85800"/>
            <a:ext cx="3840480" cy="5303520"/>
          </a:xfrm>
          <a:prstGeom prst="roundRect">
            <a:avLst>
              <a:gd name="adj" fmla="val 2857"/>
            </a:avLst>
          </a:prstGeom>
          <a:solidFill>
            <a:srgbClr val="153A5B"/>
          </a:solidFill>
          <a:ln w="12700">
            <a:solidFill>
              <a:srgbClr val="153A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兴业银行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智能贯标项目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EBFA"/>
                </a:solidFill>
              </a:rPr>
              <a:t>数据字典 + 贯标智能辅助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DCEBFA"/>
                </a:solidFill>
              </a:rPr>
              <a:t>方案汇报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4160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面向全行开发人员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5394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ED4EA"/>
                </a:solidFill>
              </a:rPr>
              <a:t>版本 v0.4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0" y="96012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235"/>
                </a:solidFill>
              </a:rPr>
              <a:t>项目定位：将智能贯标能力嵌入现有数据字典系统，建设面向开发人员的智能取数、标准推荐、重复检测、智能纠错与贯标率提升闭环。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983480" y="224028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56632" y="2313432"/>
            <a:ext cx="13167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5CAB"/>
                </a:solidFill>
              </a:rPr>
              <a:t>开发人员主用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83680" y="2240280"/>
            <a:ext cx="1508760" cy="347472"/>
          </a:xfrm>
          <a:prstGeom prst="roundRect">
            <a:avLst>
              <a:gd name="adj" fmla="val 21053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2313432"/>
            <a:ext cx="1362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5CAB"/>
                </a:solidFill>
              </a:rPr>
              <a:t>数据字典内嵌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275320" y="224028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2313432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5CAB"/>
                </a:solidFill>
              </a:rPr>
              <a:t>私有化部署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829800" y="2240280"/>
            <a:ext cx="1280160" cy="347472"/>
          </a:xfrm>
          <a:prstGeom prst="roundRect">
            <a:avLst>
              <a:gd name="adj" fmla="val 21053"/>
            </a:avLst>
          </a:prstGeom>
          <a:solidFill>
            <a:srgbClr val="EAF3FC"/>
          </a:solidFill>
          <a:ln w="12700">
            <a:solidFill>
              <a:srgbClr val="EAF3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02952" y="2313432"/>
            <a:ext cx="1133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5CAB"/>
                </a:solidFill>
              </a:rPr>
              <a:t>Java + Vue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83480" y="27432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8072" y="2871216"/>
            <a:ext cx="1636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问题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48072" y="3154680"/>
            <a:ext cx="163677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开发人员找表、找字段、找标准成本高，接入系统的贯标率整改也缺少智能辅助。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32320" y="27432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96912" y="2871216"/>
            <a:ext cx="1636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目标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96912" y="3154680"/>
            <a:ext cx="163677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一句话找数、自动给依据、无结果时给建标建议，并形成贯标率提升闭环。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281160" y="2743200"/>
            <a:ext cx="19659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45752" y="2871216"/>
            <a:ext cx="1636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结果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445752" y="3154680"/>
            <a:ext cx="163677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沉淀知识库、规则库、审核闭环和整改看板，形成可量化管理成效。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B"/>
                </a:solidFill>
              </a:rPr>
              <a:t>PROJECT VALUE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235"/>
                </a:solidFill>
              </a:rPr>
              <a:t>为什么现在要做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既要解决开发人员找数效率问题，也要解决接入系统贯标率提升难题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972800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3736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865376"/>
            <a:ext cx="32369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当前痛点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2148840"/>
            <a:ext cx="3236976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1. 开发人员依赖人工问数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2. 已有标准难复用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3. 重复建标与命名不规范并存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4. 数据字典尚未转化为知识库能力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5. 接入系统贯标率整改常靠集中突击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34840" y="173736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EAF3FC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865376"/>
            <a:ext cx="32369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一期建设重点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99432" y="2148840"/>
            <a:ext cx="3236976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1. 数据字典内嵌入口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2. 智能取数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3. 标准推荐与判重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4. 智能纠错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5. 贯标率分析与整改辅助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0" y="173736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E8F6EE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94192" y="1865376"/>
            <a:ext cx="2962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预期成效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94192" y="2148840"/>
            <a:ext cx="2962656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智能取数命中率 &gt;= 70%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定位时长下降 &gt;= 40%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标准推荐采纳率 &gt;= 45%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系统平均贯标率提升 &gt;= 15%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B"/>
                </a:solidFill>
              </a:rPr>
              <a:t>USERS &amp; SCENES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235"/>
                </a:solidFill>
              </a:rPr>
              <a:t>主要用户与使用场景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主用户是全行开发人员，管理层关注贯标率、整改闭环和推广成效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972800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37360"/>
            <a:ext cx="374904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86537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主要用户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2148840"/>
            <a:ext cx="3419856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全行开发人员：自然语言查表、查字段、查标准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标准管理员：推荐、判重、纠错、审核回写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科技管理人员：看指标、看成效、看覆盖率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0" y="1737360"/>
            <a:ext cx="3200400" cy="3474720"/>
          </a:xfrm>
          <a:prstGeom prst="roundRect">
            <a:avLst>
              <a:gd name="adj" fmla="val 2286"/>
            </a:avLst>
          </a:prstGeom>
          <a:solidFill>
            <a:srgbClr val="EAF3FC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1865376"/>
            <a:ext cx="28712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核心场景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36592" y="2148840"/>
            <a:ext cx="2871216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1. 智能取数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2. 标准推荐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3. 重复检测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4. 智能纠错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5. 低贯标率系统整改辅助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01000" y="1737360"/>
            <a:ext cx="3520440" cy="3474720"/>
          </a:xfrm>
          <a:prstGeom prst="roundRect">
            <a:avLst>
              <a:gd name="adj" fmla="val 2105"/>
            </a:avLst>
          </a:prstGeom>
          <a:solidFill>
            <a:srgbClr val="FFF4DD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65592" y="1865376"/>
            <a:ext cx="31912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典型闭环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65592" y="2148840"/>
            <a:ext cx="3191256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进入数据字典 -&gt; 检索字典/标准/术语 -&gt; 返回结果或补标建议 -&gt; 审核回写 -&gt; 更新贯标率和整改进度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B"/>
                </a:solidFill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235"/>
                </a:solidFill>
              </a:rPr>
              <a:t>总体技术架构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数据字典前台内嵌 + Java 智能服务中心 + 模型网关 + 知识库 + 贯标率看板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972800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8308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911096"/>
            <a:ext cx="1682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字典前台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2194560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Vue 页面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智能页签/侧栏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80360" y="178308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4952" y="1911096"/>
            <a:ext cx="1682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应用层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44952" y="2194560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Java/Spring Boot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查询、推荐、纠错、审核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20640" y="178308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85232" y="1911096"/>
            <a:ext cx="1682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能力层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85232" y="2194560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规则引擎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检索召回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模型编排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60920" y="178308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25512" y="1911096"/>
            <a:ext cx="1682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分析层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25512" y="2194560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贯标率分析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整改任务生成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601200" y="178308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65792" y="1911096"/>
            <a:ext cx="1682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底座层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765792" y="2194560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openGauss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TDSQL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后续 GaussDB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651760" y="2084832"/>
            <a:ext cx="201168" cy="320040"/>
          </a:xfrm>
          <a:prstGeom prst="chevron">
            <a:avLst/>
          </a:prstGeom>
          <a:solidFill>
            <a:srgbClr val="0B5CAB"/>
          </a:solidFill>
          <a:ln w="12700">
            <a:solidFill>
              <a:srgbClr val="0B5CA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2084832"/>
            <a:ext cx="201168" cy="320040"/>
          </a:xfrm>
          <a:prstGeom prst="chevron">
            <a:avLst/>
          </a:prstGeom>
          <a:solidFill>
            <a:srgbClr val="0B5CAB"/>
          </a:solidFill>
          <a:ln w="12700">
            <a:solidFill>
              <a:srgbClr val="0B5CA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0" y="2084832"/>
            <a:ext cx="201168" cy="320040"/>
          </a:xfrm>
          <a:prstGeom prst="chevron">
            <a:avLst/>
          </a:prstGeom>
          <a:solidFill>
            <a:srgbClr val="0B5CAB"/>
          </a:solidFill>
          <a:ln w="12700">
            <a:solidFill>
              <a:srgbClr val="0B5CA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72600" y="2084832"/>
            <a:ext cx="201168" cy="320040"/>
          </a:xfrm>
          <a:prstGeom prst="chevron">
            <a:avLst/>
          </a:prstGeom>
          <a:solidFill>
            <a:srgbClr val="0B5CAB"/>
          </a:solidFill>
          <a:ln w="12700">
            <a:solidFill>
              <a:srgbClr val="0B5CA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315468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EAF3FC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3282696"/>
            <a:ext cx="3054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模型网关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87552" y="3566160"/>
            <a:ext cx="305409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统一接入 Qwen3、DeepSeek3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支持路由、限流、日志、审计与置信度控制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34840" y="3154680"/>
            <a:ext cx="33832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99432" y="3282696"/>
            <a:ext cx="3054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数据接入适配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99432" y="3566160"/>
            <a:ext cx="305409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现有数据字典系统 API/库表接入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现有贯标单体系统适配改造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制度文档与案例入库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46720" y="3154680"/>
            <a:ext cx="3246120" cy="2011680"/>
          </a:xfrm>
          <a:prstGeom prst="roundRect">
            <a:avLst>
              <a:gd name="adj" fmla="val 3636"/>
            </a:avLst>
          </a:prstGeom>
          <a:solidFill>
            <a:srgbClr val="E8F6EE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11312" y="3282696"/>
            <a:ext cx="29169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贯标率闭环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11312" y="3566160"/>
            <a:ext cx="291693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识别未贯标对象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AI生成补标建议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审核回写结果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持续更新整改进度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B"/>
                </a:solidFill>
              </a:rPr>
              <a:t>KNOWLEDGE 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235"/>
                </a:solidFill>
              </a:rPr>
              <a:t>知识库路线建议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推荐一期快速落地与长期可控两条路线并行考虑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972800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37360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865376"/>
            <a:ext cx="4974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路线一：RAGFlow + Java 自研业务层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2148840"/>
            <a:ext cx="4974336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适合一期快速落地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优点：文档解析、切片、索引能力较完整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定位：承担知识处理层，不直接承载核心审核流程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风险：需要额外补足认证、权限、审计集成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EAF3FC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2512" y="1865376"/>
            <a:ext cx="4974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路线二：Spring AI + Java 自研知识服务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82512" y="2148840"/>
            <a:ext cx="4974336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适合长期可控建设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优点：更适合融入现有 Java 单体与行内体系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定位：承载标准库、术语库、规则库、反馈闭环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风险：前期设计与开发投入更高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B"/>
                </a:solidFill>
              </a:rPr>
              <a:t>RATE IMPROVEMENT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235"/>
                </a:solidFill>
              </a:rPr>
              <a:t>贯标率提升闭环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把系统级贯标率考核从事后突击补标，转成日常监测 + AI辅助整改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972800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37360"/>
            <a:ext cx="3383280" cy="38404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865376"/>
            <a:ext cx="3054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输入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2148840"/>
            <a:ext cx="305409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接入系统表、字段、数据项及既有标准映射关系进入数据字典，系统按日或按周计算贯标率。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383280" cy="38404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865376"/>
            <a:ext cx="3054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AI辅助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53712" y="2148840"/>
            <a:ext cx="305409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针对未贯标对象执行规则校验、相似召回、候选标准推荐，并按可直接补标、需人工确认、需新建标准分类。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737360"/>
            <a:ext cx="3429000" cy="38404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2752" y="1865376"/>
            <a:ext cx="30998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输出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02752" y="2148840"/>
            <a:ext cx="309981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生成整改任务、审核回写数据字典与贯标系统，并在看板中持续展示系统贯标率、低贯标率排行和整改闭环率。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B"/>
                </a:solidFill>
              </a:rPr>
              <a:t>PROTOTYPE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235"/>
                </a:solidFill>
              </a:rPr>
              <a:t>页面原型展示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数据字典内嵌式智能贯标页面，兼顾最终用户操作与领导汇报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972800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37360"/>
            <a:ext cx="3657600" cy="3840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865376"/>
            <a:ext cx="3328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数据字典内嵌智能取数页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2148840"/>
            <a:ext cx="332841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核心搜索区 + 快捷查询 + 推荐结果卡片 + 无结果建标建议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目标：一句话找到数据、字段和标准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26280" y="1737360"/>
            <a:ext cx="3657600" cy="3840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1865376"/>
            <a:ext cx="33284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结果详情与整改承接页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90872" y="2148840"/>
            <a:ext cx="332841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展示系统、库、表、字段、标准、依据与操作按钮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目标：让开发人员和标准管理员快速判断能否直接使用或补标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412480" y="1737360"/>
            <a:ext cx="3154680" cy="38404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77072" y="1865376"/>
            <a:ext cx="2825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领导看板页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77072" y="2148840"/>
            <a:ext cx="282549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展示命中率、采纳率、系统平均贯标率、低贯标率系统排行等关键指标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目标：支持管理层汇报与推广决策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B"/>
                </a:solidFill>
              </a:rPr>
              <a:t>DELIVERY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235"/>
                </a:solidFill>
              </a:rPr>
              <a:t>实施计划与团队建议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按 4-5 个月交付节奏设计，一期工作量约 50-72 人周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0972800" cy="0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83080"/>
            <a:ext cx="393192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911096"/>
            <a:ext cx="36027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里程碑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2194560"/>
            <a:ext cx="360273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M1 方案冻结（2-4周）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M2 知识库底座可用（6-10周）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M3 核心能力联调完成（10-16周）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M4 试点验收（16-20周）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783080"/>
            <a:ext cx="3291840" cy="3749040"/>
          </a:xfrm>
          <a:prstGeom prst="roundRect">
            <a:avLst>
              <a:gd name="adj" fmla="val 2222"/>
            </a:avLst>
          </a:prstGeom>
          <a:solidFill>
            <a:srgbClr val="EAF3FC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911096"/>
            <a:ext cx="2962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推荐团队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19472" y="2194560"/>
            <a:ext cx="296265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项目/交付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产品/方案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后端 2-3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前端 1-2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AI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数据/知识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测试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架构/DBA 0.5-1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0" y="1783080"/>
            <a:ext cx="3337560" cy="3749040"/>
          </a:xfrm>
          <a:prstGeom prst="roundRect">
            <a:avLst>
              <a:gd name="adj" fmla="val 2192"/>
            </a:avLst>
          </a:prstGeom>
          <a:solidFill>
            <a:srgbClr val="E8F6EE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94192" y="1911096"/>
            <a:ext cx="30083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关键前提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94192" y="2194560"/>
            <a:ext cx="300837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客户已提供 Qwen3、DeepSeek3 私有化能力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数据字典可 API/库表接入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现有单体系统可配合适配改造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3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BD6F0"/>
                </a:solidFill>
              </a:rPr>
              <a:t>建议结论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325880"/>
            <a:ext cx="5852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先把开发人员高频使用的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智能取数与贯标辅助能力做实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BFA"/>
                </a:solidFill>
              </a:rPr>
              <a:t>建设路径建议：数据字典内嵌、知识库先行、规则约束、模型增强、人机协同、私有化部署、信创兼容。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38160" y="109728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244C71"/>
          </a:solidFill>
          <a:ln w="12700">
            <a:solidFill>
              <a:srgbClr val="244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02752" y="1225296"/>
            <a:ext cx="2962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价值导向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02752" y="1508760"/>
            <a:ext cx="29626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让开发人员更快找到可用数据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让管理层看到贯标率与整改成效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138160" y="278892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244C71"/>
          </a:solidFill>
          <a:ln w="12700">
            <a:solidFill>
              <a:srgbClr val="244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02752" y="2916936"/>
            <a:ext cx="2962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交付导向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02752" y="3200400"/>
            <a:ext cx="29626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4-5个月完成一期闭环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50-72人周可控推进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38160" y="448056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244C71"/>
          </a:solidFill>
          <a:ln w="12700">
            <a:solidFill>
              <a:srgbClr val="244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02752" y="4608576"/>
            <a:ext cx="2962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235"/>
                </a:solidFill>
              </a:rPr>
              <a:t>演进导向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2752" y="4892040"/>
            <a:ext cx="29626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7285"/>
                </a:solidFill>
              </a:rPr>
              <a:t>为后续更多标准化能力扩展打基础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兴业银行智能贯标项目方案汇报</dc:title>
  <dc:subject>兴业银行智能贯标项目汇报</dc:subject>
  <dc:creator>OpenAI Codex</dc:creator>
  <cp:lastModifiedBy>OpenAI Codex</cp:lastModifiedBy>
  <cp:revision>1</cp:revision>
  <dcterms:created xsi:type="dcterms:W3CDTF">2026-03-19T11:27:30Z</dcterms:created>
  <dcterms:modified xsi:type="dcterms:W3CDTF">2026-03-19T11:27:30Z</dcterms:modified>
</cp:coreProperties>
</file>