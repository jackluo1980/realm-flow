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85800"/>
            <a:ext cx="3840480" cy="5303520"/>
          </a:xfrm>
          <a:prstGeom prst="roundRect">
            <a:avLst>
              <a:gd name="adj" fmla="val 2857"/>
            </a:avLst>
          </a:prstGeom>
          <a:solidFill>
            <a:srgbClr val="153A5B"/>
          </a:solidFill>
          <a:ln w="12700">
            <a:solidFill>
              <a:srgbClr val="153A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兴业银行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智能贯标项目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EBFA"/>
                </a:solidFill>
              </a:rPr>
              <a:t>数据字典 + 贯标智能辅助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DCEBFA"/>
                </a:solidFill>
              </a:rPr>
              <a:t>方案汇报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160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面向全行开发人员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5394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D4EA"/>
                </a:solidFill>
              </a:rPr>
              <a:t>版本 v0.3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10515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235"/>
                </a:solidFill>
              </a:rPr>
              <a:t>项目定位：在不改变现有贯标主流程边界的前提下，建设面向开发人员的智能取数、标准推荐、重复检测与智能纠错能力。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983480" y="224028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56632" y="2313432"/>
            <a:ext cx="1316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5CAB"/>
                </a:solidFill>
              </a:rPr>
              <a:t>开发人员主用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0" y="224028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2313432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5CAB"/>
                </a:solidFill>
              </a:rPr>
              <a:t>私有化部署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38160" y="22402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2313432"/>
            <a:ext cx="10424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5CAB"/>
                </a:solidFill>
              </a:rPr>
              <a:t>信创兼容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509760" y="224028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82912" y="2313432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5CAB"/>
                </a:solidFill>
              </a:rPr>
              <a:t>Java + Vue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83480" y="27432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2871216"/>
            <a:ext cx="1636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问题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48072" y="3154680"/>
            <a:ext cx="16367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开发人员找表、找字段、找标准成本高，存在重复建标和低效沟通。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32320" y="27432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96912" y="2871216"/>
            <a:ext cx="1636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目标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96912" y="3154680"/>
            <a:ext cx="16367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一句话找数、自动给依据、无结果时给建标建议，提升开发准备效率。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281160" y="27432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45752" y="2871216"/>
            <a:ext cx="1636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结果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445752" y="3154680"/>
            <a:ext cx="16367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沉淀标准知识库、规则库与审核闭环，形成可量化管理成效。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B"/>
                </a:solidFill>
              </a:rPr>
              <a:t>PROJECT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235"/>
                </a:solidFill>
              </a:rPr>
              <a:t>为什么现在要做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聚焦开发人员提效，同时形成可向管理层汇报的量化结果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97280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65376"/>
            <a:ext cx="3236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当前痛点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148840"/>
            <a:ext cx="323697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1. 开发人员依赖人工问数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2. 已有标准难复用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3. 重复建标与命名不规范并存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4. 数据字典尚未转化为知识库能力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EAF3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865376"/>
            <a:ext cx="3236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一期建设重点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99432" y="2148840"/>
            <a:ext cx="323697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1. 智能取数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2. 标准推荐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3. 重复标准检测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4. 智能纠错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5. 知识库与审核闭环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173736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E8F6EE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192" y="1865376"/>
            <a:ext cx="2962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预期成效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94192" y="2148840"/>
            <a:ext cx="296265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智能取数命中率 &gt;= 70%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定位时长下降 &gt;= 40%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标准推荐采纳率 &gt;= 45%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重复识别准确率 &gt;= 80%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B"/>
                </a:solidFill>
              </a:rPr>
              <a:t>USERS &amp; SCENES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235"/>
                </a:solidFill>
              </a:rPr>
              <a:t>主要用户与使用场景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主用户是全行开发人员，管理层关注运行成效和推广成果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97280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37490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6537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主要用户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148840"/>
            <a:ext cx="3419856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全行开发人员：自然语言查表、查字段、查标准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标准管理员：推荐、判重、纠错、审核回写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科技管理人员：看指标、看成效、看覆盖率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737360"/>
            <a:ext cx="3200400" cy="3474720"/>
          </a:xfrm>
          <a:prstGeom prst="roundRect">
            <a:avLst>
              <a:gd name="adj" fmla="val 2286"/>
            </a:avLst>
          </a:prstGeom>
          <a:solidFill>
            <a:srgbClr val="EAF3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865376"/>
            <a:ext cx="28712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核心场景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36592" y="2148840"/>
            <a:ext cx="2871216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1. 智能取数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2. 标准推荐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3. 重复检测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4. 智能纠错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5. 无结果时发起建标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01000" y="1737360"/>
            <a:ext cx="3520440" cy="3474720"/>
          </a:xfrm>
          <a:prstGeom prst="roundRect">
            <a:avLst>
              <a:gd name="adj" fmla="val 2105"/>
            </a:avLst>
          </a:prstGeom>
          <a:solidFill>
            <a:srgbClr val="FFF4DD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5592" y="1865376"/>
            <a:ext cx="31912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典型闭环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65592" y="2148840"/>
            <a:ext cx="3191256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输入自然语言问题 -&gt; 检索字典/标准/术语 -&gt; 返回表字段与依据 -&gt; 若未命中则给出建标建议 -&gt; 人工确认回写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B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235"/>
                </a:solidFill>
              </a:rPr>
              <a:t>总体技术架构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Java + 兴业现网 Vue + 模型网关 + 知识库 + 审核闭环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97280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11096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接入层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19456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Vue 页面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单体内嵌入口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80360" y="17830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4952" y="1911096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应用层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44952" y="219456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Java/Spring Boot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查询、推荐、纠错、审核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20640" y="17830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5232" y="1911096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能力层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85232" y="219456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规则引擎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检索召回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模型编排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60920" y="17830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1911096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知识层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25512" y="219456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标准库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术语库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文档知识库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01200" y="17830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65792" y="1911096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底座层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765792" y="219456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openGauss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TDSQL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后续 GaussDB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51760" y="2084832"/>
            <a:ext cx="201168" cy="320040"/>
          </a:xfrm>
          <a:prstGeom prst="chevron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2084832"/>
            <a:ext cx="201168" cy="320040"/>
          </a:xfrm>
          <a:prstGeom prst="chevron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0" y="2084832"/>
            <a:ext cx="201168" cy="320040"/>
          </a:xfrm>
          <a:prstGeom prst="chevron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72600" y="2084832"/>
            <a:ext cx="201168" cy="320040"/>
          </a:xfrm>
          <a:prstGeom prst="chevron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315468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EAF3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3282696"/>
            <a:ext cx="3054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模型网关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87552" y="3566160"/>
            <a:ext cx="305409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统一接入 Qwen3、DeepSeek3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支持路由、限流、日志、审计与置信度控制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34840" y="315468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9432" y="3282696"/>
            <a:ext cx="3054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数据接入适配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99432" y="3566160"/>
            <a:ext cx="305409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现有数据字典系统 API/库表接入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现有贯标单体系统适配改造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制度文档与案例入库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46720" y="315468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E8F6EE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11312" y="3282696"/>
            <a:ext cx="2916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兼容原则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11312" y="3566160"/>
            <a:ext cx="291693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主业务表结构统一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数据库差异封装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检索能力外置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迁移成本可控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B"/>
                </a:solidFill>
              </a:rPr>
              <a:t>KNOWLEDGE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235"/>
                </a:solidFill>
              </a:rPr>
              <a:t>知识库路线建议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推荐一期快速落地与长期可控两条路线并行考虑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97280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65376"/>
            <a:ext cx="4974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路线一：RAGFlow + Java 自研业务层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148840"/>
            <a:ext cx="497433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适合一期快速落地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优点：文档解析、切片、索引能力较完整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定位：承担知识处理层，不直接承载核心审核流程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风险：需要额外补足认证、权限、审计集成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EAF3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865376"/>
            <a:ext cx="4974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路线二：Spring AI + Java 自研知识服务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82512" y="2148840"/>
            <a:ext cx="497433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适合长期可控建设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优点：更适合融入现有 Java 单体与行内体系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定位：承载标准库、术语库、规则库、反馈闭环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风险：前期设计与开发投入更高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B"/>
                </a:solidFill>
              </a:rPr>
              <a:t>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235"/>
                </a:solidFill>
              </a:rPr>
              <a:t>页面原型展示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最终用户操作视角的静态高保真原型页面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97280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3657600" cy="3840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65376"/>
            <a:ext cx="3328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智能取数首页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148840"/>
            <a:ext cx="332841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核心搜索区 + 快捷查询 + 推荐结果卡片 + 无结果建标建议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目标：一句话找到数据、字段和标准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26280" y="1737360"/>
            <a:ext cx="3657600" cy="3840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865376"/>
            <a:ext cx="3328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结果详情页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90872" y="2148840"/>
            <a:ext cx="332841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展示系统、库、表、字段、标准、依据与操作按钮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目标：让开发人员快速判断能否直接使用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412480" y="1737360"/>
            <a:ext cx="3154680" cy="38404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77072" y="1865376"/>
            <a:ext cx="2825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领导看板页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77072" y="2148840"/>
            <a:ext cx="282549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展示命中率、采纳率、准确率、定位时长下降等关键指标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目标：支持管理层汇报与推广决策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B"/>
                </a:solidFill>
              </a:rPr>
              <a:t>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235"/>
                </a:solidFill>
              </a:rPr>
              <a:t>实施计划与团队建议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按 4-5 个月交付节奏设计，一期工作量约 50-72 人周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97280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393192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11096"/>
            <a:ext cx="36027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里程碑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194560"/>
            <a:ext cx="360273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M1 方案冻结（2-4周）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M2 知识库底座可用（6-10周）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M3 核心能力联调完成（10-16周）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M4 试点验收（16-20周）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783080"/>
            <a:ext cx="3291840" cy="3749040"/>
          </a:xfrm>
          <a:prstGeom prst="roundRect">
            <a:avLst>
              <a:gd name="adj" fmla="val 2222"/>
            </a:avLst>
          </a:prstGeom>
          <a:solidFill>
            <a:srgbClr val="EAF3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911096"/>
            <a:ext cx="2962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推荐团队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9472" y="2194560"/>
            <a:ext cx="296265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项目/交付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产品/方案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后端 2-3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前端 1-2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AI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数据/知识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测试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架构/DBA 0.5-1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1783080"/>
            <a:ext cx="3337560" cy="3749040"/>
          </a:xfrm>
          <a:prstGeom prst="roundRect">
            <a:avLst>
              <a:gd name="adj" fmla="val 2192"/>
            </a:avLst>
          </a:prstGeom>
          <a:solidFill>
            <a:srgbClr val="E8F6EE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192" y="1911096"/>
            <a:ext cx="3008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关键前提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94192" y="2194560"/>
            <a:ext cx="300837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客户已提供 Qwen3、DeepSeek3 私有化能力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数据字典可 API/库表接入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现有单体系统可配合适配改造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BD6F0"/>
                </a:solidFill>
              </a:rPr>
              <a:t>建议结论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先把开发人员高频使用的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智能取数与贯标辅助能力做实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BFA"/>
                </a:solidFill>
              </a:rPr>
              <a:t>建设路径建议：知识库先行、规则约束、模型增强、人机协同、私有化部署、信创兼容。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38160" y="109728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244C71"/>
          </a:solidFill>
          <a:ln w="12700">
            <a:solidFill>
              <a:srgbClr val="244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02752" y="1225296"/>
            <a:ext cx="2962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价值导向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02752" y="1508760"/>
            <a:ext cx="29626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让开发人员更快找到可用数据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让管理层看到可量化成效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138160" y="278892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244C71"/>
          </a:solidFill>
          <a:ln w="12700">
            <a:solidFill>
              <a:srgbClr val="244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02752" y="2916936"/>
            <a:ext cx="2962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交付导向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2752" y="3200400"/>
            <a:ext cx="29626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4-5个月完成一期闭环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50-72人周可控推进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38160" y="448056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244C71"/>
          </a:solidFill>
          <a:ln w="12700">
            <a:solidFill>
              <a:srgbClr val="244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4608576"/>
            <a:ext cx="2962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演进导向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2752" y="4892040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为后续更多标准化能力扩展打基础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兴业银行智能贯标项目方案汇报</dc:title>
  <dc:subject>兴业银行智能贯标项目汇报</dc:subject>
  <dc:creator>OpenAI Codex</dc:creator>
  <cp:lastModifiedBy>OpenAI Codex</cp:lastModifiedBy>
  <cp:revision>1</cp:revision>
  <dcterms:created xsi:type="dcterms:W3CDTF">2026-03-19T08:45:16Z</dcterms:created>
  <dcterms:modified xsi:type="dcterms:W3CDTF">2026-03-19T08:45:16Z</dcterms:modified>
</cp:coreProperties>
</file>